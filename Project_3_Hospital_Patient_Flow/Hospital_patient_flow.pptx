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69" r:id="rId4"/>
    <p:sldId id="270" r:id="rId5"/>
    <p:sldId id="271" r:id="rId6"/>
    <p:sldId id="272" r:id="rId7"/>
    <p:sldId id="273" r:id="rId8"/>
    <p:sldId id="276" r:id="rId9"/>
    <p:sldId id="274" r:id="rId10"/>
    <p:sldId id="275" r:id="rId11"/>
    <p:sldId id="277" r:id="rId12"/>
    <p:sldId id="280" r:id="rId1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3A353-3A91-F6C0-61C0-01CBBB0C8A55}" v="3" dt="2026-07-14T17:49:21.575"/>
    <p1510:client id="{11B5AFB5-1F4E-78E0-D8EF-986624F01803}" v="4" dt="2026-07-14T17:06:20.554"/>
    <p1510:client id="{1BC3D5BF-2CC3-07A1-6DE5-2E1223ACEBE2}" v="20" dt="2026-07-14T17:24:46.367"/>
    <p1510:client id="{392124F4-FFB9-7532-DAEC-183233F882A7}" v="49" dt="2026-07-14T16:58:32.510"/>
    <p1510:client id="{3C004472-AC7A-4612-8466-5266400F086D}" v="9" dt="2026-07-14T14:56:45.676"/>
    <p1510:client id="{4C23DB17-D3CA-EBDC-82DE-9E5A4F79AB0D}" v="25" dt="2026-07-14T17:49:39.813"/>
    <p1510:client id="{6E0FFC1B-C00C-8FC7-72BB-772F334DACF6}" v="2" dt="2026-07-14T15:26:04.867"/>
    <p1510:client id="{76C48B67-1490-6CAF-0660-8DEB153DE0F8}" v="175" dt="2026-07-14T17:42:06.521"/>
    <p1510:client id="{E56A5FD1-16B8-88B1-0ADD-9C12DF1A7358}" v="2163" dt="2026-07-14T14:38:25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543D-62F5-9A1B-CA9D-B57A2E972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46C42-7A63-DD0D-3437-C63DC7BD6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C7460-133E-B8E8-2FA0-E15F9F16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4EC3E-0FD6-FB96-0680-A8D69B91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2FA7-CE40-5133-DCB3-578621DD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88797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B423-B2D5-911F-7BDD-53F39DA6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9D7B0-CD51-0F09-F88A-7A108894C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BE310-D806-6918-9375-F92817AE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94A0-6FB8-30EC-338F-7ED98C40D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634E0-7C22-AE6D-C115-C6EF166D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3027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A1DA-7AC6-9F2E-FCC3-7F679EF8E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48ABE-D059-9841-EF04-07E988268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92F5E-9358-FBD3-1F22-E71FAC56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FB96C-23B5-1851-6D66-865E73D2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0F829-5D44-8729-BC9B-9270A52F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9686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5867-671F-9478-E11D-C590BC38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42180-4FD4-B340-1B11-E3D4EA867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8D6CA-0B32-C5F6-84F1-9CC4CED70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A2E46-83DE-46E3-E3E1-79E2E2C1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E02DA-4A49-CFAE-EDB7-14316033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FF5C7-CBA0-D418-F77B-F676FD71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4740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3325-18A9-C990-0327-9E8AE9FD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63C0F-3205-BBA6-CB4E-C88ECB284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FC2F4-6C31-E2BA-0FA9-82BF6B423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86713-C5D4-64A6-F59F-12C7F7439C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2634A-72B3-9FB0-620C-74F206C473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39A10-089A-C564-B6B8-4A5DE438E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C7DDCC-E9FE-9750-4ABB-E8DACA760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2A2CD-441F-0DA0-B25A-D1E6E8F2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4688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33CB-D92E-BB5B-E11B-22DA2DC3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1DCAAB-324D-C0A0-0C73-2FA51681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C63FE-B520-59CC-62FC-31C76BAB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8673D-C351-814D-6127-6F9ED4DC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69263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243E9-8011-B217-D60E-E9E8F018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C3B55-94CA-0F4C-B361-291A8014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2F80F-DB04-8CAA-D68D-24966341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9639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1AAA-2FCF-C3B7-EA78-FCA36DBD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1D26C-960D-98AE-ACFF-9ABD43467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21447-83DC-92E5-6F9C-516CBF702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C1A76-766D-F01D-C08A-378CCEA96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6686F-8D45-DD4E-DBFF-6584DA7B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3229D-9D73-A8B1-1B35-0D0E15C8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4118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68E1-2699-41E0-B60F-6089BF68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E82689-D264-ABB8-2645-F2D9ABA18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74812-CA3A-2DC1-2C4F-4D37C5D71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17463-1224-B49F-871C-74C6C58D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F7989-DAEE-5456-AF9E-01FA6B90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73AD0-5ACE-8EDE-51B6-ABC8818C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8421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4FDD-8300-B49C-88F8-E3147322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5424B-7E0F-FE51-91A1-F69DDAC16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00813-7D5B-9281-BECA-5AA56E79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7B83-0FCF-4C90-64B9-28574035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C00D6-7846-6C8D-D9E3-6582BCFF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28197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DD09A-EE56-1AAE-F0C0-5C81B26AC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509A5-344C-EEFB-721C-F67001D4A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BDC44-68A3-933C-3FAB-DC068DCF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636AA-09E9-16F1-6F4D-48901DF1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0EF99-63F1-669A-BF59-F898E27FE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9236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B54DF-0339-F879-47D4-1EDF3FFC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28C7D-1008-6EE6-D0BB-9345EFCE7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539B2-0650-CA7B-A2DB-6E54BA19E4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1EE2E-E5EB-4628-B736-D8DBAB68FC94}" type="datetimeFigureOut">
              <a:rPr lang="en-NG" smtClean="0"/>
              <a:t>07/17/2026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27888-2A1F-8E8F-045C-38FDDAB7D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097AC-CEA2-39C8-145B-B95605C29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E5EDB-9A2A-4599-806C-52D29509C0F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5722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Healthcare Data Analysis with Stethoscope on Graphs and Charts ...">
            <a:extLst>
              <a:ext uri="{FF2B5EF4-FFF2-40B4-BE49-F238E27FC236}">
                <a16:creationId xmlns:a16="http://schemas.microsoft.com/office/drawing/2014/main" id="{E6304424-4485-73CF-E139-4A075319D7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74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C95E7-146D-7046-1FAF-E01FAAC14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>
                <a:ln w="22225">
                  <a:solidFill>
                    <a:srgbClr val="FFFFFF"/>
                  </a:solidFill>
                </a:ln>
                <a:solidFill>
                  <a:schemeClr val="accent4"/>
                </a:solidFill>
              </a:rPr>
              <a:t>HOSPITAL PATIENT FLOW ANALYTICS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DBD126A-1008-6317-9187-9EF27AADBDD2}"/>
              </a:ext>
            </a:extLst>
          </p:cNvPr>
          <p:cNvSpPr txBox="1"/>
          <p:nvPr/>
        </p:nvSpPr>
        <p:spPr>
          <a:xfrm>
            <a:off x="7534641" y="1065862"/>
            <a:ext cx="3860002" cy="472627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accent4">
                    <a:lumMod val="20000"/>
                    <a:lumOff val="80000"/>
                  </a:schemeClr>
                </a:solidFill>
              </a:rPr>
              <a:t>Presented by : The Cloud Analysts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accent4">
                    <a:lumMod val="20000"/>
                    <a:lumOff val="80000"/>
                  </a:schemeClr>
                </a:solidFill>
              </a:rPr>
              <a:t>Trainer: TIM MICAH-GRACE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accent4">
                    <a:lumMod val="20000"/>
                    <a:lumOff val="80000"/>
                  </a:schemeClr>
                </a:solidFill>
              </a:rPr>
              <a:t>Date: 14/07/2026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700B1-C95F-3959-C972-0DE676EAAD9D}"/>
              </a:ext>
            </a:extLst>
          </p:cNvPr>
          <p:cNvSpPr txBox="1"/>
          <p:nvPr/>
        </p:nvSpPr>
        <p:spPr>
          <a:xfrm>
            <a:off x="1026218" y="5770060"/>
            <a:ext cx="49761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err="1">
                <a:solidFill>
                  <a:srgbClr val="FFC000"/>
                </a:solidFill>
                <a:ea typeface="+mn-lt"/>
                <a:cs typeface="+mn-lt"/>
              </a:rPr>
              <a:t>MetroCareNHS</a:t>
            </a:r>
            <a:r>
              <a:rPr lang="en-US" sz="3200">
                <a:solidFill>
                  <a:srgbClr val="FFC000"/>
                </a:solidFill>
                <a:ea typeface="+mn-lt"/>
                <a:cs typeface="+mn-lt"/>
              </a:rPr>
              <a:t> Trust </a:t>
            </a:r>
            <a:endParaRPr lang="en-US" sz="320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120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spd="slow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Patient Flow Management: Strategies for Better Care">
            <a:extLst>
              <a:ext uri="{FF2B5EF4-FFF2-40B4-BE49-F238E27FC236}">
                <a16:creationId xmlns:a16="http://schemas.microsoft.com/office/drawing/2014/main" id="{40CF1073-D630-305E-3237-0A64665AAA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95" r="1748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4FF3F-FAFC-040F-00EF-A7996602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94" y="1984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chemeClr val="accent4"/>
                </a:solidFill>
              </a:rPr>
              <a:t>Introduction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6EBE7-3104-86B4-7087-559378688B3A}"/>
              </a:ext>
            </a:extLst>
          </p:cNvPr>
          <p:cNvSpPr txBox="1"/>
          <p:nvPr/>
        </p:nvSpPr>
        <p:spPr>
          <a:xfrm>
            <a:off x="445294" y="1767452"/>
            <a:ext cx="4215095" cy="440951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err="1"/>
              <a:t>MetroCare</a:t>
            </a:r>
            <a:r>
              <a:rPr lang="en-US" sz="2000"/>
              <a:t> NHS is experiencing pressure 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Patient flow 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Patients waiting time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Bed Availability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012873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What is Healthcare Analytics | Benefits of Big Data in Healthcare- FORE">
            <a:extLst>
              <a:ext uri="{FF2B5EF4-FFF2-40B4-BE49-F238E27FC236}">
                <a16:creationId xmlns:a16="http://schemas.microsoft.com/office/drawing/2014/main" id="{5D6C18E8-4313-3194-BA92-AF6E630651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782" r="-1" b="21514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06285-87AB-FB0B-1B3B-3B3BB315E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chemeClr val="accent4"/>
                </a:solidFill>
              </a:rPr>
              <a:t>Objectives: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AEF7A-0559-F5C7-0CEA-903ECECC399F}"/>
              </a:ext>
            </a:extLst>
          </p:cNvPr>
          <p:cNvSpPr txBox="1"/>
          <p:nvPr/>
        </p:nvSpPr>
        <p:spPr>
          <a:xfrm>
            <a:off x="838200" y="2434201"/>
            <a:ext cx="3822189" cy="374276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/>
              <a:t>Analyse</a:t>
            </a:r>
            <a:r>
              <a:rPr lang="en-US"/>
              <a:t> waiting times by department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Understand admission outcomes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Investigate whether staffing levels affect delays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Identify key causes of poor patient flow.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Conclusion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161092299"/>
      </p:ext>
    </p:extLst>
  </p:cSld>
  <p:clrMapOvr>
    <a:masterClrMapping/>
  </p:clrMapOvr>
  <p:transition spd="slow"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C7F7-7F2E-B1A1-28C7-E2C1C725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41" y="-387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accent4"/>
                </a:solidFill>
              </a:rPr>
              <a:t>Dataset Overview and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48C3A-12E0-859B-CAF2-05D15DEE58F3}"/>
              </a:ext>
            </a:extLst>
          </p:cNvPr>
          <p:cNvSpPr txBox="1"/>
          <p:nvPr/>
        </p:nvSpPr>
        <p:spPr>
          <a:xfrm>
            <a:off x="194542" y="963242"/>
            <a:ext cx="4821799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b="1">
              <a:latin typeface="Arial"/>
              <a:cs typeface="Arial"/>
            </a:endParaRPr>
          </a:p>
          <a:p>
            <a:endParaRPr lang="en-US" sz="2000" b="1">
              <a:latin typeface="Arial"/>
              <a:cs typeface="Arial"/>
            </a:endParaRPr>
          </a:p>
          <a:p>
            <a:r>
              <a:rPr lang="en-US" sz="2000" b="1">
                <a:solidFill>
                  <a:schemeClr val="accent4"/>
                </a:solidFill>
                <a:latin typeface="Arial"/>
                <a:cs typeface="Arial"/>
              </a:rPr>
              <a:t>Datasets used:</a:t>
            </a:r>
            <a:endParaRPr lang="en-US" sz="2000">
              <a:solidFill>
                <a:schemeClr val="accent4"/>
              </a:solidFill>
            </a:endParaRPr>
          </a:p>
          <a:p>
            <a:endParaRPr lang="en-US" sz="2000" b="1">
              <a:solidFill>
                <a:schemeClr val="accent4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4"/>
                </a:solidFill>
                <a:latin typeface="Arial"/>
                <a:cs typeface="Arial"/>
              </a:rPr>
              <a:t>Admissions dataset</a:t>
            </a:r>
            <a:endParaRPr lang="en-US" sz="2000" b="1">
              <a:solidFill>
                <a:schemeClr val="accent4"/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Admission type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Waiting time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Length of stay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Outcome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Bed pressure score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endParaRPr lang="en-US" sz="2000"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endParaRPr lang="en-US" sz="20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4"/>
                </a:solidFill>
                <a:latin typeface="Arial"/>
                <a:cs typeface="Arial"/>
              </a:rPr>
              <a:t>Staffing dataset</a:t>
            </a:r>
            <a:endParaRPr lang="en-US" sz="2000" b="1">
              <a:solidFill>
                <a:schemeClr val="accent4"/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Date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Department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Staff on duty</a:t>
            </a:r>
            <a:endParaRPr lang="en-US" sz="2000"/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A5224-EA5B-B6B6-C802-C0F2A1AF06E3}"/>
              </a:ext>
            </a:extLst>
          </p:cNvPr>
          <p:cNvSpPr txBox="1"/>
          <p:nvPr/>
        </p:nvSpPr>
        <p:spPr>
          <a:xfrm>
            <a:off x="6503384" y="1590112"/>
            <a:ext cx="4019948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solidFill>
                  <a:schemeClr val="accent4"/>
                </a:solidFill>
              </a:rPr>
              <a:t>Methods:</a:t>
            </a:r>
          </a:p>
          <a:p>
            <a:endParaRPr lang="en-US" sz="2400"/>
          </a:p>
          <a:p>
            <a:endParaRPr lang="en-US">
              <a:latin typeface="Aptos" panose="02110004020202020204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Data cleaning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VLOOKUP/XLOOKUP to join staffing data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PivotTables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rial"/>
                <a:cs typeface="Arial"/>
              </a:rPr>
              <a:t>Data </a:t>
            </a:r>
            <a:r>
              <a:rPr lang="en-US" sz="2000" err="1">
                <a:latin typeface="Arial"/>
                <a:cs typeface="Arial"/>
              </a:rPr>
              <a:t>visualisations</a:t>
            </a:r>
            <a:endParaRPr lang="en-US" sz="2000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713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B3380-4D71-EEEA-3A6E-8446B403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56" y="141936"/>
            <a:ext cx="5355894" cy="2207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000" b="1" kern="120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Average Waiting time by department</a:t>
            </a:r>
            <a:endParaRPr lang="en-US"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medical personnel waiting&#10;&#10;AI-generated content may be incorrect.">
            <a:extLst>
              <a:ext uri="{FF2B5EF4-FFF2-40B4-BE49-F238E27FC236}">
                <a16:creationId xmlns:a16="http://schemas.microsoft.com/office/drawing/2014/main" id="{21EB57AF-AFD4-DFA0-83ED-4556C2BAE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773424"/>
            <a:ext cx="5536001" cy="32523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46ED20-EA3C-3EC8-42B7-1197BDC347C5}"/>
              </a:ext>
            </a:extLst>
          </p:cNvPr>
          <p:cNvSpPr txBox="1"/>
          <p:nvPr/>
        </p:nvSpPr>
        <p:spPr>
          <a:xfrm>
            <a:off x="267003" y="3636845"/>
            <a:ext cx="541031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All departments experience waiting times </a:t>
            </a:r>
            <a:r>
              <a:rPr lang="en-US">
                <a:solidFill>
                  <a:srgbClr val="FF0000"/>
                </a:solidFill>
                <a:latin typeface="Arial"/>
                <a:ea typeface="+mn-lt"/>
                <a:cs typeface="Arial"/>
              </a:rPr>
              <a:t>above</a:t>
            </a:r>
            <a:endParaRPr lang="en-US">
              <a:latin typeface="Arial"/>
              <a:cs typeface="Arial"/>
            </a:endParaRPr>
          </a:p>
          <a:p>
            <a:r>
              <a:rPr lang="en-US">
                <a:solidFill>
                  <a:srgbClr val="FF0000"/>
                </a:solidFill>
                <a:latin typeface="Arial"/>
                <a:ea typeface="+mn-lt"/>
                <a:cs typeface="Arial"/>
              </a:rPr>
              <a:t>20 minutes</a:t>
            </a:r>
            <a:r>
              <a:rPr lang="en-US">
                <a:latin typeface="Arial"/>
                <a:ea typeface="+mn-lt"/>
                <a:cs typeface="Arial"/>
              </a:rPr>
              <a:t>, showing common pressure on patient flow. </a:t>
            </a:r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Paediatrics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>
                <a:latin typeface="Arial"/>
                <a:ea typeface="+mn-lt"/>
                <a:cs typeface="Arial"/>
              </a:rPr>
              <a:t>has the highest average waiting time</a:t>
            </a:r>
          </a:p>
          <a:p>
            <a:r>
              <a:rPr lang="en-US">
                <a:latin typeface="Arial"/>
                <a:ea typeface="+mn-lt"/>
                <a:cs typeface="Arial"/>
              </a:rPr>
              <a:t>(</a:t>
            </a:r>
            <a:r>
              <a:rPr lang="en-US">
                <a:solidFill>
                  <a:srgbClr val="FF0000"/>
                </a:solidFill>
                <a:latin typeface="Arial"/>
                <a:ea typeface="+mn-lt"/>
                <a:cs typeface="Arial"/>
              </a:rPr>
              <a:t>114 minutes</a:t>
            </a:r>
            <a:r>
              <a:rPr lang="en-US">
                <a:latin typeface="Arial"/>
                <a:ea typeface="+mn-lt"/>
                <a:cs typeface="Arial"/>
              </a:rPr>
              <a:t>). 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Maternity, Respiratory, ENT, and A&amp;E also show</a:t>
            </a:r>
          </a:p>
          <a:p>
            <a:r>
              <a:rPr lang="en-US">
                <a:latin typeface="Arial"/>
                <a:ea typeface="+mn-lt"/>
                <a:cs typeface="Arial"/>
              </a:rPr>
              <a:t>significant delays. 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These departments should be </a:t>
            </a:r>
            <a:r>
              <a:rPr lang="en-US" err="1">
                <a:latin typeface="Arial"/>
                <a:ea typeface="+mn-lt"/>
                <a:cs typeface="Arial"/>
              </a:rPr>
              <a:t>prioritised</a:t>
            </a:r>
            <a:r>
              <a:rPr lang="en-US">
                <a:latin typeface="Arial"/>
                <a:ea typeface="+mn-lt"/>
                <a:cs typeface="Arial"/>
              </a:rPr>
              <a:t> for</a:t>
            </a:r>
          </a:p>
          <a:p>
            <a:r>
              <a:rPr lang="en-US">
                <a:latin typeface="Arial"/>
                <a:ea typeface="+mn-lt"/>
                <a:cs typeface="Arial"/>
              </a:rPr>
              <a:t>operational improvement.</a:t>
            </a:r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921413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2A9CF-1656-4436-F07F-788385B5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12" y="-552"/>
            <a:ext cx="5696626" cy="1699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400" b="1" kern="120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Admission type by Outcome</a:t>
            </a:r>
            <a:endParaRPr lang="en-US" b="1">
              <a:solidFill>
                <a:schemeClr val="accent4"/>
              </a:solidFill>
              <a:ea typeface="+mj-ea"/>
              <a:cs typeface="+mj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FF3AB-B780-1630-E21D-79189825C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662703"/>
            <a:ext cx="5536001" cy="3473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0BC239-B343-D2C1-857B-A1FA78051EB6}"/>
              </a:ext>
            </a:extLst>
          </p:cNvPr>
          <p:cNvSpPr txBox="1"/>
          <p:nvPr/>
        </p:nvSpPr>
        <p:spPr>
          <a:xfrm>
            <a:off x="500260" y="4145013"/>
            <a:ext cx="441301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Total number admitted: </a:t>
            </a:r>
            <a:r>
              <a:rPr lang="en-US" b="1">
                <a:solidFill>
                  <a:schemeClr val="accent4"/>
                </a:solidFill>
              </a:rPr>
              <a:t>817 patients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/>
              <a:t>   -   746 patients discharged.</a:t>
            </a:r>
          </a:p>
          <a:p>
            <a:endParaRPr lang="en-US"/>
          </a:p>
          <a:p>
            <a:r>
              <a:rPr lang="en-US"/>
              <a:t>   -   70 patients transferred.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Emergency admission recorded 1 deceased outcome.</a:t>
            </a:r>
          </a:p>
        </p:txBody>
      </p:sp>
    </p:spTree>
    <p:extLst>
      <p:ext uri="{BB962C8B-B14F-4D97-AF65-F5344CB8AC3E}">
        <p14:creationId xmlns:p14="http://schemas.microsoft.com/office/powerpoint/2010/main" val="3759566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EF042-0B2C-82DE-BCFA-B4DC1F860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00" y="-552"/>
            <a:ext cx="5355894" cy="24247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400" b="1" kern="120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Staffing levels vs waiting time</a:t>
            </a:r>
            <a:endParaRPr lang="en-US"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B988D-B008-2CEA-9141-C2ADD605C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780343"/>
            <a:ext cx="5536001" cy="3238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504337-8E6E-0BE8-6B7D-A592CCA1882B}"/>
              </a:ext>
            </a:extLst>
          </p:cNvPr>
          <p:cNvSpPr txBox="1"/>
          <p:nvPr/>
        </p:nvSpPr>
        <p:spPr>
          <a:xfrm>
            <a:off x="-1101" y="3663171"/>
            <a:ext cx="668010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Higher staffing levels do not always lead to shorter</a:t>
            </a:r>
          </a:p>
          <a:p>
            <a:r>
              <a:rPr lang="en-US">
                <a:latin typeface="Arial"/>
                <a:ea typeface="+mn-lt"/>
                <a:cs typeface="Arial"/>
              </a:rPr>
              <a:t>waiting times.</a:t>
            </a:r>
          </a:p>
          <a:p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Lower staffing levels can be associated with shorter</a:t>
            </a:r>
          </a:p>
          <a:p>
            <a:r>
              <a:rPr lang="en-US">
                <a:latin typeface="Arial"/>
                <a:ea typeface="+mn-lt"/>
                <a:cs typeface="Arial"/>
              </a:rPr>
              <a:t>waits in some cases.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Waiting times might be influenced by other factors</a:t>
            </a:r>
          </a:p>
          <a:p>
            <a:r>
              <a:rPr lang="en-US">
                <a:latin typeface="Arial"/>
                <a:ea typeface="+mn-lt"/>
                <a:cs typeface="Arial"/>
              </a:rPr>
              <a:t>(Patient arrival volumes, emergency demand, department workload, patient complexity, etc...)</a:t>
            </a:r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32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95D25-4492-35F7-7B8E-22A207EA7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" y="-552"/>
            <a:ext cx="5535553" cy="114238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5400" b="1" kern="120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Bed Availability</a:t>
            </a:r>
            <a:r>
              <a:rPr lang="en-US" sz="5400" b="1">
                <a:solidFill>
                  <a:schemeClr val="accent4"/>
                </a:solidFill>
              </a:rPr>
              <a:t> vs waiting time by department</a:t>
            </a:r>
            <a:endParaRPr lang="en-US"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patients waiting time&#10;&#10;AI-generated content may be incorrect.">
            <a:extLst>
              <a:ext uri="{FF2B5EF4-FFF2-40B4-BE49-F238E27FC236}">
                <a16:creationId xmlns:a16="http://schemas.microsoft.com/office/drawing/2014/main" id="{018D154A-95D5-D73A-2D06-43BC6C6C1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794184"/>
            <a:ext cx="5536001" cy="32108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D5EFD8-A494-9CCC-7012-41C01DC4C565}"/>
              </a:ext>
            </a:extLst>
          </p:cNvPr>
          <p:cNvSpPr txBox="1"/>
          <p:nvPr/>
        </p:nvSpPr>
        <p:spPr>
          <a:xfrm>
            <a:off x="71465" y="3734086"/>
            <a:ext cx="552072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Some departments with more beds still experience long waiting times.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Departments with lower waiting times generally have adequate bed capacity.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Bed availability may influence delays, but it is not the only factor affecting patient flow.</a:t>
            </a:r>
          </a:p>
        </p:txBody>
      </p:sp>
    </p:spTree>
    <p:extLst>
      <p:ext uri="{BB962C8B-B14F-4D97-AF65-F5344CB8AC3E}">
        <p14:creationId xmlns:p14="http://schemas.microsoft.com/office/powerpoint/2010/main" val="2730421251"/>
      </p:ext>
    </p:extLst>
  </p:cSld>
  <p:clrMapOvr>
    <a:masterClrMapping/>
  </p:clrMapOvr>
  <p:transition spd="slow"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6D0AA-1EA7-E3A5-53FF-7496889AC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12" y="-552"/>
            <a:ext cx="4984187" cy="16999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wo white cartoon characters shaking hands with laptops&#10;&#10;AI-generated content may be incorrect.">
            <a:extLst>
              <a:ext uri="{FF2B5EF4-FFF2-40B4-BE49-F238E27FC236}">
                <a16:creationId xmlns:a16="http://schemas.microsoft.com/office/drawing/2014/main" id="{B2A95F76-0C5E-5A80-1DC1-BB32CBFDF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84" y="1712314"/>
            <a:ext cx="4922685" cy="3326473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5130241A-17C0-8436-8F19-50A33E8F2E41}"/>
              </a:ext>
            </a:extLst>
          </p:cNvPr>
          <p:cNvSpPr txBox="1"/>
          <p:nvPr/>
        </p:nvSpPr>
        <p:spPr>
          <a:xfrm>
            <a:off x="221204" y="1355310"/>
            <a:ext cx="5465923" cy="61555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N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Arial"/>
                <a:ea typeface="+mn-lt"/>
                <a:cs typeface="Arial"/>
              </a:rPr>
              <a:t>Waiting time problems are concentrated in specific departments,especially </a:t>
            </a:r>
            <a:r>
              <a:rPr lang="en-US" sz="2000" b="1" err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Paediatrics</a:t>
            </a:r>
            <a:r>
              <a:rPr lang="en-US" sz="2000">
                <a:latin typeface="Arial"/>
                <a:ea typeface="+mn-lt"/>
                <a:cs typeface="Arial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Maternity</a:t>
            </a:r>
            <a:r>
              <a:rPr lang="en-US" sz="2000">
                <a:latin typeface="Arial"/>
                <a:ea typeface="+mn-lt"/>
                <a:cs typeface="Arial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Respiratory</a:t>
            </a:r>
            <a:r>
              <a:rPr lang="en-US" sz="2000">
                <a:latin typeface="Arial"/>
                <a:ea typeface="+mn-lt"/>
                <a:cs typeface="Arial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ENT</a:t>
            </a:r>
            <a:r>
              <a:rPr lang="en-US" sz="2000">
                <a:latin typeface="Arial"/>
                <a:ea typeface="+mn-lt"/>
                <a:cs typeface="Arial"/>
              </a:rPr>
              <a:t>, and </a:t>
            </a:r>
            <a:r>
              <a:rPr lang="en-US" sz="2000" b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A&amp;E</a:t>
            </a:r>
            <a:r>
              <a:rPr lang="en-US" sz="2000">
                <a:latin typeface="Arial"/>
                <a:ea typeface="+mn-lt"/>
                <a:cs typeface="Arial"/>
              </a:rPr>
              <a:t>. </a:t>
            </a:r>
            <a:endParaRPr lang="en-US" sz="2000">
              <a:latin typeface="Arial"/>
              <a:cs typeface="Arial"/>
            </a:endParaRPr>
          </a:p>
          <a:p>
            <a:pPr algn="just"/>
            <a:endParaRPr lang="en-US" sz="2000">
              <a:latin typeface="Arial"/>
              <a:ea typeface="+mn-lt"/>
              <a:cs typeface="Arial"/>
            </a:endParaRPr>
          </a:p>
          <a:p>
            <a:pPr algn="just"/>
            <a:endParaRPr lang="en-US" sz="2000">
              <a:latin typeface="Arial"/>
              <a:ea typeface="+mn-lt"/>
              <a:cs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Arial"/>
                <a:ea typeface="+mn-lt"/>
                <a:cs typeface="Arial"/>
              </a:rPr>
              <a:t>Most patients were discharged successfully, but delays appear within the patient pathway. </a:t>
            </a:r>
            <a:endParaRPr lang="en-US" sz="2000">
              <a:latin typeface="Arial"/>
              <a:cs typeface="Arial"/>
            </a:endParaRPr>
          </a:p>
          <a:p>
            <a:pPr algn="just"/>
            <a:endParaRPr lang="en-US" sz="2000">
              <a:latin typeface="Arial"/>
              <a:ea typeface="+mn-lt"/>
              <a:cs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Arial"/>
                <a:ea typeface="+mn-lt"/>
                <a:cs typeface="Arial"/>
              </a:rPr>
              <a:t>Staffing levels alone do not explain waiting time variation.</a:t>
            </a:r>
            <a:endParaRPr lang="en-US" sz="2000">
              <a:latin typeface="Arial"/>
              <a:cs typeface="Arial"/>
            </a:endParaRPr>
          </a:p>
          <a:p>
            <a:pPr marL="285750" indent="-285750" algn="just">
              <a:buFont typeface="Arial"/>
              <a:buChar char="•"/>
            </a:pPr>
            <a:endParaRPr lang="en-US" sz="2000">
              <a:latin typeface="Arial"/>
              <a:cs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Arial"/>
                <a:ea typeface="+mn-lt"/>
                <a:cs typeface="Arial"/>
              </a:rPr>
              <a:t>The hospital should </a:t>
            </a:r>
            <a:r>
              <a:rPr lang="en-US" sz="2000" err="1">
                <a:latin typeface="Arial"/>
                <a:ea typeface="+mn-lt"/>
                <a:cs typeface="Arial"/>
              </a:rPr>
              <a:t>prioritise</a:t>
            </a:r>
            <a:r>
              <a:rPr lang="en-US" sz="2000">
                <a:latin typeface="Arial"/>
                <a:ea typeface="+mn-lt"/>
                <a:cs typeface="Arial"/>
              </a:rPr>
              <a:t> high-wait departments and ensure resources are allocated where they are most needed.</a:t>
            </a:r>
            <a:endParaRPr lang="en-US" sz="2000">
              <a:latin typeface="Arial"/>
              <a:cs typeface="Arial"/>
            </a:endParaRPr>
          </a:p>
          <a:p>
            <a:pPr algn="just"/>
            <a:endParaRPr lang="en-US" sz="2000">
              <a:latin typeface="Arial"/>
              <a:cs typeface="Arial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64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93738-EB9F-7C75-E36E-628648C0E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13" y="141936"/>
            <a:ext cx="4178821" cy="93794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3800" b="1" kern="1200">
                <a:solidFill>
                  <a:schemeClr val="accent4"/>
                </a:solidFill>
                <a:latin typeface="Arial"/>
                <a:cs typeface="Arial"/>
              </a:rPr>
              <a:t>Recommendations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green thumb up and a paper with a thumb up&#10;&#10;AI-generated content may be incorrect.">
            <a:extLst>
              <a:ext uri="{FF2B5EF4-FFF2-40B4-BE49-F238E27FC236}">
                <a16:creationId xmlns:a16="http://schemas.microsoft.com/office/drawing/2014/main" id="{F02BC789-F7C9-1516-4016-97A5F5706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783863"/>
            <a:ext cx="5536001" cy="52315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9D95A6-3C4B-7782-5F34-1CCA307C646F}"/>
              </a:ext>
            </a:extLst>
          </p:cNvPr>
          <p:cNvSpPr txBox="1"/>
          <p:nvPr/>
        </p:nvSpPr>
        <p:spPr>
          <a:xfrm>
            <a:off x="178664" y="3787685"/>
            <a:ext cx="527059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Prioritize improvement in </a:t>
            </a:r>
            <a:r>
              <a:rPr lang="en-US" b="1">
                <a:latin typeface="Arial"/>
                <a:ea typeface="+mn-lt"/>
                <a:cs typeface="Arial"/>
              </a:rPr>
              <a:t>departments with the longest waiting times</a:t>
            </a:r>
            <a:r>
              <a:rPr lang="en-US">
                <a:latin typeface="Arial"/>
                <a:ea typeface="+mn-lt"/>
                <a:cs typeface="Arial"/>
              </a:rPr>
              <a:t> (</a:t>
            </a:r>
            <a:r>
              <a:rPr lang="en-US" err="1">
                <a:latin typeface="Arial"/>
                <a:ea typeface="+mn-lt"/>
                <a:cs typeface="Arial"/>
              </a:rPr>
              <a:t>Paediatrics</a:t>
            </a:r>
            <a:r>
              <a:rPr lang="en-US">
                <a:latin typeface="Arial"/>
                <a:ea typeface="+mn-lt"/>
                <a:cs typeface="Arial"/>
              </a:rPr>
              <a:t>, Maternity, Respiratory, ENT, A&amp;E).</a:t>
            </a:r>
            <a:endParaRPr lang="en-US" b="1">
              <a:latin typeface="Arial"/>
              <a:ea typeface="+mn-lt"/>
              <a:cs typeface="Arial"/>
            </a:endParaRPr>
          </a:p>
          <a:p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Review </a:t>
            </a:r>
            <a:r>
              <a:rPr lang="en-US" b="1">
                <a:latin typeface="Arial"/>
                <a:cs typeface="Arial"/>
              </a:rPr>
              <a:t>staffing capacity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>
                <a:ea typeface="+mn-lt"/>
                <a:cs typeface="+mn-lt"/>
              </a:rPr>
              <a:t>and allocate clinical resources based on demand.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Ensure the </a:t>
            </a:r>
            <a:r>
              <a:rPr lang="en-US" b="1">
                <a:ea typeface="+mn-lt"/>
                <a:cs typeface="+mn-lt"/>
              </a:rPr>
              <a:t>right medi</a:t>
            </a:r>
            <a:r>
              <a:rPr lang="en-US" b="1">
                <a:latin typeface="Aptos"/>
                <a:cs typeface="Arial"/>
              </a:rPr>
              <a:t>cal teams</a:t>
            </a:r>
            <a:r>
              <a:rPr lang="en-US">
                <a:latin typeface="Aptos"/>
                <a:cs typeface="Arial"/>
              </a:rPr>
              <a:t> are available when demand is high.</a:t>
            </a:r>
          </a:p>
        </p:txBody>
      </p:sp>
    </p:spTree>
    <p:extLst>
      <p:ext uri="{BB962C8B-B14F-4D97-AF65-F5344CB8AC3E}">
        <p14:creationId xmlns:p14="http://schemas.microsoft.com/office/powerpoint/2010/main" val="327009584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ank You Your Attention Vectors &amp; Illustrations for Free Download ...">
            <a:extLst>
              <a:ext uri="{FF2B5EF4-FFF2-40B4-BE49-F238E27FC236}">
                <a16:creationId xmlns:a16="http://schemas.microsoft.com/office/drawing/2014/main" id="{759B8707-46BD-FAB5-68F7-4C609BB2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62" b="21435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6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ee Question Mark Images, Download Free Question Mark Images png ...">
            <a:extLst>
              <a:ext uri="{FF2B5EF4-FFF2-40B4-BE49-F238E27FC236}">
                <a16:creationId xmlns:a16="http://schemas.microsoft.com/office/drawing/2014/main" id="{DE348A22-E593-62AD-1170-1D5326B5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25" y="0"/>
            <a:ext cx="1896426" cy="2415154"/>
          </a:xfrm>
          <a:prstGeom prst="rect">
            <a:avLst/>
          </a:prstGeom>
        </p:spPr>
      </p:pic>
      <p:pic>
        <p:nvPicPr>
          <p:cNvPr id="5" name="Picture 4" descr="Remarks v2">
            <a:extLst>
              <a:ext uri="{FF2B5EF4-FFF2-40B4-BE49-F238E27FC236}">
                <a16:creationId xmlns:a16="http://schemas.microsoft.com/office/drawing/2014/main" id="{EE4C4A83-9007-80A3-7174-45FFEC327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195" y="2750762"/>
            <a:ext cx="2743199" cy="1000897"/>
          </a:xfrm>
          <a:prstGeom prst="rect">
            <a:avLst/>
          </a:prstGeom>
        </p:spPr>
      </p:pic>
      <p:pic>
        <p:nvPicPr>
          <p:cNvPr id="6" name="Picture 5" descr="Suggestion Icon In Vector Logotype Stock Illustration - Download Image ...">
            <a:extLst>
              <a:ext uri="{FF2B5EF4-FFF2-40B4-BE49-F238E27FC236}">
                <a16:creationId xmlns:a16="http://schemas.microsoft.com/office/drawing/2014/main" id="{4072B15F-BA68-A742-4834-E606BFB58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93" y="4281407"/>
            <a:ext cx="1806020" cy="2305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441CD-4374-8E46-7042-905A65B0F4C8}"/>
              </a:ext>
            </a:extLst>
          </p:cNvPr>
          <p:cNvSpPr txBox="1"/>
          <p:nvPr/>
        </p:nvSpPr>
        <p:spPr>
          <a:xfrm>
            <a:off x="3272282" y="792509"/>
            <a:ext cx="861636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4800" b="1"/>
              <a:t>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041D5E-2618-18A9-8CC8-4143F2050A04}"/>
              </a:ext>
            </a:extLst>
          </p:cNvPr>
          <p:cNvSpPr txBox="1"/>
          <p:nvPr/>
        </p:nvSpPr>
        <p:spPr>
          <a:xfrm>
            <a:off x="2706652" y="4805393"/>
            <a:ext cx="536988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4800" b="1"/>
              <a:t>Suggestio</a:t>
            </a:r>
            <a:r>
              <a:rPr lang="en-GB" sz="4800" b="1">
                <a:solidFill>
                  <a:srgbClr val="000000"/>
                </a:solidFill>
                <a:latin typeface="Aptos"/>
              </a:rPr>
              <a:t>ns</a:t>
            </a:r>
            <a:endParaRPr lang="en-GB" sz="4800" b="1"/>
          </a:p>
        </p:txBody>
      </p:sp>
    </p:spTree>
    <p:extLst>
      <p:ext uri="{BB962C8B-B14F-4D97-AF65-F5344CB8AC3E}">
        <p14:creationId xmlns:p14="http://schemas.microsoft.com/office/powerpoint/2010/main" val="140939948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HOSPITAL PATIENT FLOW ANALYTICS</vt:lpstr>
      <vt:lpstr>Introduction </vt:lpstr>
      <vt:lpstr>Objectives:</vt:lpstr>
      <vt:lpstr>Dataset Overview and Methodology</vt:lpstr>
      <vt:lpstr>Average Waiting time by department</vt:lpstr>
      <vt:lpstr>Admission type by Outcome</vt:lpstr>
      <vt:lpstr>Staffing levels vs waiting time</vt:lpstr>
      <vt:lpstr>Bed Availability vs waiting time by department</vt:lpstr>
      <vt:lpstr>Conclusion</vt:lpstr>
      <vt:lpstr>Recommendations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lanre OLADEEBO</dc:creator>
  <cp:revision>2</cp:revision>
  <dcterms:created xsi:type="dcterms:W3CDTF">2026-07-14T09:14:05Z</dcterms:created>
  <dcterms:modified xsi:type="dcterms:W3CDTF">2026-07-17T11:42:38Z</dcterms:modified>
</cp:coreProperties>
</file>